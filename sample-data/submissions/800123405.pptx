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s/slide1.xml" ContentType="application/vnd.openxmlformats-officedocument.presentationml.slide+xml"/>
  <Override PartName="/ppt/slides/slide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Lst>
  <p:sldSz cx="10080625" cy="5670550"/>
  <p:notesSz cx="7772400" cy="100584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 name="PlaceHolder 1"/>
          <p:cNvSpPr>
            <a:spLocks noGrp="1"/>
          </p:cNvSpPr>
          <p:nvPr>
            <p:ph type="sldImg"/>
          </p:nvPr>
        </p:nvSpPr>
        <p:spPr>
          <a:xfrm>
            <a:off x="533520" y="764280"/>
            <a:ext cx="6704640" cy="3771360"/>
          </a:xfrm>
          <a:prstGeom prst="rect">
            <a:avLst/>
          </a:prstGeom>
          <a:noFill/>
          <a:ln w="0">
            <a:noFill/>
          </a:ln>
        </p:spPr>
        <p:txBody>
          <a:bodyPr lIns="0" tIns="0" rIns="0" bIns="0" anchor="ctr">
            <a:noAutofit/>
          </a:bodyPr>
          <a:p>
            <a:pPr algn="ctr"/>
            <a:r>
              <a:rPr lang="en-US" sz="4400" b="0" u="none" strike="noStrike">
                <a:solidFill>
                  <a:srgbClr val="000000"/>
                </a:solidFill>
                <a:effectLst/>
                <a:uFillTx/>
                <a:latin typeface="Arial"/>
              </a:rPr>
              <a:t>Click to move the slide</a:t>
            </a:r>
            <a:endParaRPr lang="en-US" sz="4400" b="0" u="none" strike="noStrike">
              <a:solidFill>
                <a:srgbClr val="000000"/>
              </a:solidFill>
              <a:effectLst/>
              <a:uFillTx/>
              <a:latin typeface="Arial"/>
            </a:endParaRPr>
          </a:p>
        </p:txBody>
      </p:sp>
      <p:sp>
        <p:nvSpPr>
          <p:cNvPr id="10"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11"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12" name="PlaceHolder 4"/>
          <p:cNvSpPr>
            <a:spLocks noGrp="1"/>
          </p:cNvSpPr>
          <p:nvPr>
            <p:ph type="dt" idx="4"/>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3" name="PlaceHolder 5"/>
          <p:cNvSpPr>
            <a:spLocks noGrp="1"/>
          </p:cNvSpPr>
          <p:nvPr>
            <p:ph type="ftr" idx="5"/>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4" name="PlaceHolder 6"/>
          <p:cNvSpPr>
            <a:spLocks noGrp="1"/>
          </p:cNvSpPr>
          <p:nvPr>
            <p:ph type="sldNum" idx="6"/>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E4825AD9-62DB-4A73-ADA6-57216AB129E2}"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 name=""/>
          <p:cNvSpPr txBox="1"/>
          <p:nvPr/>
        </p:nvSpPr>
        <p:spPr>
          <a:xfrm>
            <a:off x="540000" y="5040000"/>
            <a:ext cx="9000000" cy="3600000"/>
          </a:xfrm>
          <a:prstGeom prst="rect">
            <a:avLst/>
          </a:prstGeom>
          <a:solidFill>
            <a:schemeClr val="accent1"/>
          </a:solidFill>
          <a:ln w="38160">
            <a:solidFill>
              <a:schemeClr val="accent1">
                <a:lumMod val="75000"/>
                <a:lumOff val="0"/>
              </a:schemeClr>
            </a:solidFill>
            <a:round/>
          </a:ln>
        </p:spPr>
        <p:txBody>
          <a:bodyPr lIns="90000" tIns="45000" rIns="90000" bIns="45000" anchor="t">
            <a:spAutoFit/>
          </a:bodyPr>
          <a:p>
            <a:pPr/>
            <a:r>
              <a:rPr lang="en-US" sz="1800" b="0" u="none" strike="noStrike">
                <a:solidFill>
                  <a:srgbClr val="FFFFFF"/>
                </a:solidFill>
                <a:effectLst/>
                <a:uFillTx/>
                <a:latin typeface="Arial"/>
              </a:rPr>
              <a:t>Every city has a choice about who its downtown is for. I believe mid-sized cities should ban private cars from their downtown cores, because pedestrian-only streets make downtowns more lively, more equal, and more climate-friendly.</a:t>
            </a:r>
            <a:endParaRPr lang="en-US" sz="1800" b="0" u="none" strike="noStrike">
              <a:solidFill>
                <a:srgbClr val="FFFFFF"/>
              </a:solidFill>
              <a:effectLst/>
              <a:uFillTx/>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 name=""/>
          <p:cNvSpPr txBox="1"/>
          <p:nvPr/>
        </p:nvSpPr>
        <p:spPr>
          <a:xfrm>
            <a:off x="540000" y="5040000"/>
            <a:ext cx="9000000" cy="3600000"/>
          </a:xfrm>
          <a:prstGeom prst="rect">
            <a:avLst/>
          </a:prstGeom>
          <a:solidFill>
            <a:schemeClr val="accent1"/>
          </a:solidFill>
          <a:ln w="38160">
            <a:solidFill>
              <a:schemeClr val="accent1">
                <a:lumMod val="75000"/>
                <a:lumOff val="0"/>
              </a:schemeClr>
            </a:solidFill>
            <a:round/>
          </a:ln>
        </p:spPr>
        <p:txBody>
          <a:bodyPr lIns="90000" tIns="45000" rIns="90000" bIns="45000" anchor="t">
            <a:spAutoFit/>
          </a:bodyPr>
          <a:p>
            <a:pPr/>
            <a:r>
              <a:rPr lang="en-US" sz="1800" b="0" u="none" strike="noStrike">
                <a:solidFill>
                  <a:srgbClr val="FFFFFF"/>
                </a:solidFill>
                <a:effectLst/>
                <a:uFillTx/>
                <a:latin typeface="Arial"/>
              </a:rPr>
              <a:t>Pedestrian streets bring life back to downtowns. In my hometown, the main street closes to cars every summer weekend for a festival, and it is transformed: families, musicians, and vendors fill the road. Local businesses I spoke with said weekend sales roughly double during those events. A permanent ban could make that energy the everyday normal.</a:t>
            </a:r>
            <a:endParaRPr lang="en-US" sz="1800" b="0" u="none" strike="noStrike">
              <a:solidFill>
                <a:srgbClr val="FFFFFF"/>
              </a:solidFill>
              <a:effectLst/>
              <a:uFillTx/>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 name=""/>
          <p:cNvSpPr txBox="1"/>
          <p:nvPr/>
        </p:nvSpPr>
        <p:spPr>
          <a:xfrm>
            <a:off x="540000" y="5040000"/>
            <a:ext cx="9000000" cy="3600000"/>
          </a:xfrm>
          <a:prstGeom prst="rect">
            <a:avLst/>
          </a:prstGeom>
          <a:solidFill>
            <a:schemeClr val="accent1"/>
          </a:solidFill>
          <a:ln w="38160">
            <a:solidFill>
              <a:schemeClr val="accent1">
                <a:lumMod val="75000"/>
                <a:lumOff val="0"/>
              </a:schemeClr>
            </a:solidFill>
            <a:round/>
          </a:ln>
        </p:spPr>
        <p:txBody>
          <a:bodyPr lIns="90000" tIns="45000" rIns="90000" bIns="45000" anchor="t">
            <a:spAutoFit/>
          </a:bodyPr>
          <a:p>
            <a:pPr/>
            <a:r>
              <a:rPr lang="en-US" sz="1800" b="0" u="none" strike="noStrike">
                <a:solidFill>
                  <a:srgbClr val="FFFFFF"/>
                </a:solidFill>
                <a:effectLst/>
                <a:uFillTx/>
                <a:latin typeface="Arial"/>
              </a:rPr>
              <a:t>A car-free core is also more equal. Not everyone can afford a car; the Bureau of Transportation Statistics estimates owning one costs over $12,000 a year. When downtowns are designed around parking, those without cars are treated as second-class visitors. Designing for walkers, cyclists, and transit riders welcomes everyone.</a:t>
            </a:r>
            <a:endParaRPr lang="en-US" sz="1800" b="0" u="none" strike="noStrike">
              <a:solidFill>
                <a:srgbClr val="FFFFFF"/>
              </a:solidFill>
              <a:effectLst/>
              <a:uFillTx/>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 name=""/>
          <p:cNvSpPr txBox="1"/>
          <p:nvPr/>
        </p:nvSpPr>
        <p:spPr>
          <a:xfrm>
            <a:off x="540000" y="5040000"/>
            <a:ext cx="9000000" cy="3600000"/>
          </a:xfrm>
          <a:prstGeom prst="rect">
            <a:avLst/>
          </a:prstGeom>
          <a:solidFill>
            <a:schemeClr val="accent1"/>
          </a:solidFill>
          <a:ln w="38160">
            <a:solidFill>
              <a:schemeClr val="accent1">
                <a:lumMod val="75000"/>
                <a:lumOff val="0"/>
              </a:schemeClr>
            </a:solidFill>
            <a:round/>
          </a:ln>
        </p:spPr>
        <p:txBody>
          <a:bodyPr lIns="90000" tIns="45000" rIns="90000" bIns="45000" anchor="t">
            <a:spAutoFit/>
          </a:bodyPr>
          <a:p>
            <a:pPr/>
            <a:r>
              <a:rPr lang="en-US" sz="1800" b="0" u="none" strike="noStrike">
                <a:solidFill>
                  <a:srgbClr val="FFFFFF"/>
                </a:solidFill>
                <a:effectLst/>
                <a:uFillTx/>
                <a:latin typeface="Arial"/>
              </a:rPr>
              <a:t>Finally, transportation is the largest source of greenhouse gas emissions in the United States, according to the EPA. Cities cannot meet climate goals while continuing to prioritize private cars in their densest areas.</a:t>
            </a:r>
            <a:endParaRPr lang="en-US" sz="1800" b="0" u="none" strike="noStrike">
              <a:solidFill>
                <a:srgbClr val="FFFFFF"/>
              </a:solidFill>
              <a:effectLst/>
              <a:uFillTx/>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 name=""/>
          <p:cNvSpPr txBox="1"/>
          <p:nvPr/>
        </p:nvSpPr>
        <p:spPr>
          <a:xfrm>
            <a:off x="540000" y="5040000"/>
            <a:ext cx="9000000" cy="3600000"/>
          </a:xfrm>
          <a:prstGeom prst="rect">
            <a:avLst/>
          </a:prstGeom>
          <a:solidFill>
            <a:schemeClr val="accent1"/>
          </a:solidFill>
          <a:ln w="38160">
            <a:solidFill>
              <a:schemeClr val="accent1">
                <a:lumMod val="75000"/>
                <a:lumOff val="0"/>
              </a:schemeClr>
            </a:solidFill>
            <a:round/>
          </a:ln>
        </p:spPr>
        <p:txBody>
          <a:bodyPr lIns="90000" tIns="45000" rIns="90000" bIns="45000" anchor="t">
            <a:spAutoFit/>
          </a:bodyPr>
          <a:p>
            <a:pPr/>
            <a:r>
              <a:rPr lang="en-US" sz="1800" b="0" u="none" strike="noStrike">
                <a:solidFill>
                  <a:srgbClr val="FFFFFF"/>
                </a:solidFill>
                <a:effectLst/>
                <a:uFillTx/>
                <a:latin typeface="Arial"/>
              </a:rPr>
              <a:t>Some residents worry about losing convenient parking. My classmate Jordan Alvarez pointed out in our peer review that people from rural areas depend on driving. This is fair, which is why a ban should come with park-and-ride lots and shuttles at the edge of downtown. Handling the transition with grace matters as much as the policy itself.</a:t>
            </a:r>
            <a:endParaRPr lang="en-US" sz="1800" b="0" u="none" strike="noStrike">
              <a:solidFill>
                <a:srgbClr val="FFFFFF"/>
              </a:solidFill>
              <a:effectLst/>
              <a:uFillTx/>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 name=""/>
          <p:cNvSpPr txBox="1"/>
          <p:nvPr/>
        </p:nvSpPr>
        <p:spPr>
          <a:xfrm>
            <a:off x="540000" y="5040000"/>
            <a:ext cx="9000000" cy="3600000"/>
          </a:xfrm>
          <a:prstGeom prst="rect">
            <a:avLst/>
          </a:prstGeom>
          <a:solidFill>
            <a:schemeClr val="accent1"/>
          </a:solidFill>
          <a:ln w="38160">
            <a:solidFill>
              <a:schemeClr val="accent1">
                <a:lumMod val="75000"/>
                <a:lumOff val="0"/>
              </a:schemeClr>
            </a:solidFill>
            <a:round/>
          </a:ln>
        </p:spPr>
        <p:txBody>
          <a:bodyPr lIns="90000" tIns="45000" rIns="90000" bIns="45000" anchor="t">
            <a:spAutoFit/>
          </a:bodyPr>
          <a:p>
            <a:pPr/>
            <a:r>
              <a:rPr lang="en-US" sz="1800" b="0" u="none" strike="noStrike">
                <a:solidFill>
                  <a:srgbClr val="FFFFFF"/>
                </a:solidFill>
                <a:effectLst/>
                <a:uFillTx/>
                <a:latin typeface="Arial"/>
              </a:rPr>
              <a:t>Cities that put people first will have downtowns people want to visit. It is time to give the streets back.</a:t>
            </a:r>
            <a:endParaRPr lang="en-US" sz="1800" b="0" u="none" strike="noStrike">
              <a:solidFill>
                <a:srgbClr val="FFFFFF"/>
              </a:solidFill>
              <a:effectLst/>
              <a:uFillTx/>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89307680-9A36-4245-B10E-2657A14C1BDC}" type="slidenum">
              <a:t>&lt;#&gt;</a:t>
            </a:fld>
          </a:p>
        </p:txBody>
      </p:sp>
      <p:sp>
        <p:nvSpPr>
          <p:cNvPr id="4" name="PlaceHolder 3"/>
          <p:cNvSpPr>
            <a:spLocks noGrp="1"/>
          </p:cNvSpPr>
          <p:nvPr>
            <p:ph type="dt" idx="1"/>
          </p:nvPr>
        </p:nvSpPr>
        <p:spPr/>
        <p:txBody>
          <a:bodyPr/>
          <a:p>
            <a:r>
              <a:rPr lang="en-US"/>
              <a:t/>
            </a:r>
          </a:p>
        </p:txBody>
      </p:sp>
    </p:spTree>
  </p:cSld>
  <p:clrMapOvr>
    <a:masterClrMapping/>
  </p:clrMapOvr>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spTree>
      <p:nvGrpSpPr>
        <p:cNvPr id="1" name=""/>
        <p:cNvGrpSpPr/>
        <p:nvPr/>
      </p:nvGrpSpPr>
      <p:grpSpPr>
        <a:xfrm>
          <a:off x="0" y="0"/>
          <a:ext cx="0" cy="0"/>
          <a:chOff x="0" y="0"/>
          <a:chExt cx="0" cy="0"/>
        </a:xfrm>
      </p:grpSpPr>
      <p:sp>
        <p:nvSpPr>
          <p:cNvPr id="7" name="PlaceHolder 1"/>
          <p:cNvSpPr>
            <a:spLocks noGrp="1"/>
          </p:cNvSpPr>
          <p:nvPr>
            <p:ph type="title"/>
          </p:nvPr>
        </p:nvSpPr>
        <p:spPr>
          <a:xfrm>
            <a:off x="504000" y="226080"/>
            <a:ext cx="9071640" cy="946440"/>
          </a:xfrm>
          <a:prstGeom prst="rect">
            <a:avLst/>
          </a:prstGeom>
          <a:noFill/>
          <a:ln w="0">
            <a:noFill/>
          </a:ln>
        </p:spPr>
        <p:txBody>
          <a:bodyPr lIns="0" tIns="0" rIns="0" bIns="0" anchor="ctr">
            <a:spAutoFit/>
          </a:bodyPr>
          <a:p>
            <a:pPr indent="0" algn="ctr">
              <a:buNone/>
            </a:pPr>
            <a:endParaRPr lang="en-US" sz="4400" b="0" u="none" strike="noStrike">
              <a:solidFill>
                <a:srgbClr val="000000"/>
              </a:solidFill>
              <a:effectLst/>
              <a:uFillTx/>
              <a:latin typeface="Arial"/>
            </a:endParaRPr>
          </a:p>
        </p:txBody>
      </p:sp>
      <p:sp>
        <p:nvSpPr>
          <p:cNvPr id="8" name="PlaceHolder 2"/>
          <p:cNvSpPr>
            <a:spLocks noGrp="1"/>
          </p:cNvSpPr>
          <p:nvPr>
            <p:ph type="subTitle"/>
          </p:nvPr>
        </p:nvSpPr>
        <p:spPr>
          <a:xfrm>
            <a:off x="504000" y="1326600"/>
            <a:ext cx="9071640" cy="3288240"/>
          </a:xfrm>
          <a:prstGeom prst="rect">
            <a:avLst/>
          </a:prstGeom>
          <a:noFill/>
          <a:ln w="0">
            <a:noFill/>
          </a:ln>
        </p:spPr>
        <p:txBody>
          <a:bodyPr lIns="0" tIns="0" rIns="0" bIns="0" anchor="ctr">
            <a:spAutoFit/>
          </a:bodyPr>
          <a:p>
            <a:pPr indent="0" algn="ctr">
              <a:buNone/>
            </a:pPr>
            <a:endParaRPr lang="en-US" sz="3200" b="0" u="none" strike="noStrike">
              <a:solidFill>
                <a:srgbClr val="000000"/>
              </a:solidFill>
              <a:effectLst/>
              <a:uFillTx/>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3C449325-0B92-4B8B-899A-1AF7257578FC}" type="slidenum">
              <a:t>&lt;#&gt;</a:t>
            </a:fld>
          </a:p>
        </p:txBody>
      </p:sp>
      <p:sp>
        <p:nvSpPr>
          <p:cNvPr id="6" name="PlaceHolder 5"/>
          <p:cNvSpPr>
            <a:spLocks noGrp="1"/>
          </p:cNvSpPr>
          <p:nvPr>
            <p:ph type="dt" idx="1"/>
          </p:nvPr>
        </p:nvSpPr>
        <p:spPr/>
        <p:txBody>
          <a:bodyPr/>
          <a:p>
            <a:r>
              <a:rPr lang="en-US"/>
              <a:t/>
            </a:r>
          </a:p>
        </p:txBody>
      </p:sp>
    </p:spTree>
  </p:cSld>
  <p:clrMapOvr>
    <a:masterClrMapping/>
  </p:clrMapOvr>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lvl1pPr indent="0" algn="ctr">
              <a:buNone/>
              <a:defRPr lang="en-US" sz="4400" b="0" u="none" strike="noStrike">
                <a:solidFill>
                  <a:srgbClr val="000000"/>
                </a:solidFill>
                <a:effectLst/>
                <a:uFillTx/>
                <a:latin typeface="Arial"/>
              </a:defRPr>
            </a:lvl1pPr>
          </a:lstStyle>
          <a:p>
            <a:pPr indent="0" algn="ctr">
              <a:buNone/>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3" name="PlaceHolder 2"/>
          <p:cNvSpPr>
            <a:spLocks noGrp="1"/>
          </p:cNvSpPr>
          <p:nvPr>
            <p:ph type="body"/>
          </p:nvPr>
        </p:nvSpPr>
        <p:spPr>
          <a:xfrm>
            <a:off x="504000" y="1326600"/>
            <a:ext cx="9071640" cy="328824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0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endParaRPr lang="en-US" sz="32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endParaRPr lang="en-US" sz="2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endParaRPr lang="en-US" sz="20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
        <p:nvSpPr>
          <p:cNvPr id="4" name="PlaceHolder 3"/>
          <p:cNvSpPr>
            <a:spLocks noGrp="1"/>
          </p:cNvSpPr>
          <p:nvPr>
            <p:ph type="dt" idx="1"/>
          </p:nvPr>
        </p:nvSpPr>
        <p:spPr>
          <a:xfrm>
            <a:off x="504000" y="5165280"/>
            <a:ext cx="2348280" cy="390600"/>
          </a:xfrm>
          <a:prstGeom prst="rect">
            <a:avLst/>
          </a:prstGeom>
          <a:noFill/>
          <a:ln w="0">
            <a:noFill/>
          </a:ln>
        </p:spPr>
        <p:txBody>
          <a:bodyPr lIns="0" tIns="0" rIns="0" bIns="0" anchor="t">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5" name="PlaceHolder 4"/>
          <p:cNvSpPr>
            <a:spLocks noGrp="1"/>
          </p:cNvSpPr>
          <p:nvPr>
            <p:ph type="ftr" idx="2"/>
          </p:nvPr>
        </p:nvSpPr>
        <p:spPr>
          <a:xfrm>
            <a:off x="3447360" y="5165280"/>
            <a:ext cx="3195000" cy="390600"/>
          </a:xfrm>
          <a:prstGeom prst="rect">
            <a:avLst/>
          </a:prstGeom>
          <a:noFill/>
          <a:ln w="0">
            <a:noFill/>
          </a:ln>
        </p:spPr>
        <p:txBody>
          <a:bodyPr lIns="0" tIns="0" rIns="0" bIns="0" anchor="t">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 name="PlaceHolder 5"/>
          <p:cNvSpPr>
            <a:spLocks noGrp="1"/>
          </p:cNvSpPr>
          <p:nvPr>
            <p:ph type="sldNum" idx="3"/>
          </p:nvPr>
        </p:nvSpPr>
        <p:spPr>
          <a:xfrm>
            <a:off x="7227360" y="5165280"/>
            <a:ext cx="2348280" cy="39060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fld id="{D0805983-8A34-4FEE-A991-028A005367FC}"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 name=""/>
          <p:cNvSpPr txBox="1"/>
          <p:nvPr/>
        </p:nvSpPr>
        <p:spPr>
          <a:xfrm>
            <a:off x="540000" y="360000"/>
            <a:ext cx="9000000" cy="900000"/>
          </a:xfrm>
          <a:prstGeom prst="rect">
            <a:avLst/>
          </a:prstGeom>
          <a:solidFill>
            <a:schemeClr val="accent1"/>
          </a:solidFill>
          <a:ln w="38160">
            <a:solidFill>
              <a:schemeClr val="accent1">
                <a:lumMod val="75000"/>
                <a:lumOff val="0"/>
              </a:schemeClr>
            </a:solidFill>
            <a:round/>
          </a:ln>
        </p:spPr>
        <p:txBody>
          <a:bodyPr lIns="90000" tIns="45000" rIns="90000" bIns="45000" anchor="t">
            <a:spAutoFit/>
          </a:bodyPr>
          <a:p>
            <a:pPr/>
            <a:r>
              <a:rPr lang="en-US" sz="1800" b="0" u="none" strike="noStrike">
                <a:solidFill>
                  <a:srgbClr val="FFFFFF"/>
                </a:solidFill>
                <a:effectLst/>
                <a:uFillTx/>
                <a:latin typeface="Arial"/>
              </a:rPr>
              <a:t>Downtowns Are for People</a:t>
            </a:r>
            <a:endParaRPr lang="en-US" sz="1800" b="0" u="none" strike="noStrike">
              <a:solidFill>
                <a:srgbClr val="FFFFFF"/>
              </a:solidFill>
              <a:effectLst/>
              <a:uFillTx/>
              <a:latin typeface="Arial"/>
            </a:endParaRPr>
          </a:p>
        </p:txBody>
      </p:sp>
      <p:sp>
        <p:nvSpPr>
          <p:cNvPr id="16" name=""/>
          <p:cNvSpPr txBox="1"/>
          <p:nvPr/>
        </p:nvSpPr>
        <p:spPr>
          <a:xfrm>
            <a:off x="540000" y="1440000"/>
            <a:ext cx="9000000" cy="3600000"/>
          </a:xfrm>
          <a:prstGeom prst="rect">
            <a:avLst/>
          </a:prstGeom>
          <a:solidFill>
            <a:schemeClr val="accent1"/>
          </a:solidFill>
          <a:ln w="38160">
            <a:solidFill>
              <a:schemeClr val="accent1">
                <a:lumMod val="75000"/>
                <a:lumOff val="0"/>
              </a:schemeClr>
            </a:solidFill>
            <a:round/>
          </a:ln>
        </p:spPr>
        <p:txBody>
          <a:bodyPr lIns="90000" tIns="45000" rIns="90000" bIns="45000" anchor="t">
            <a:spAutoFit/>
          </a:bodyPr>
          <a:p>
            <a:pPr/>
            <a:r>
              <a:rPr lang="en-US" sz="1800" b="0" u="none" strike="noStrike">
                <a:solidFill>
                  <a:srgbClr val="FFFFFF"/>
                </a:solidFill>
                <a:effectLst/>
                <a:uFillTx/>
                <a:latin typeface="Arial"/>
              </a:rPr>
              <a:t>Every city has a choice about who its downtown is for.</a:t>
            </a:r>
            <a:endParaRPr lang="en-U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 name=""/>
          <p:cNvSpPr txBox="1"/>
          <p:nvPr/>
        </p:nvSpPr>
        <p:spPr>
          <a:xfrm>
            <a:off x="540000" y="360000"/>
            <a:ext cx="9000000" cy="900000"/>
          </a:xfrm>
          <a:prstGeom prst="rect">
            <a:avLst/>
          </a:prstGeom>
          <a:solidFill>
            <a:schemeClr val="accent1"/>
          </a:solidFill>
          <a:ln w="38160">
            <a:solidFill>
              <a:schemeClr val="accent1">
                <a:lumMod val="75000"/>
                <a:lumOff val="0"/>
              </a:schemeClr>
            </a:solidFill>
            <a:round/>
          </a:ln>
        </p:spPr>
        <p:txBody>
          <a:bodyPr lIns="90000" tIns="45000" rIns="90000" bIns="45000" anchor="t">
            <a:spAutoFit/>
          </a:bodyPr>
          <a:p>
            <a:pPr/>
            <a:r>
              <a:rPr lang="en-US" sz="1800" b="0" u="none" strike="noStrike">
                <a:solidFill>
                  <a:srgbClr val="FFFFFF"/>
                </a:solidFill>
                <a:effectLst/>
                <a:uFillTx/>
                <a:latin typeface="Arial"/>
              </a:rPr>
              <a:t>Point 1</a:t>
            </a:r>
            <a:endParaRPr lang="en-US" sz="1800" b="0" u="none" strike="noStrike">
              <a:solidFill>
                <a:srgbClr val="FFFFFF"/>
              </a:solidFill>
              <a:effectLst/>
              <a:uFillTx/>
              <a:latin typeface="Arial"/>
            </a:endParaRPr>
          </a:p>
        </p:txBody>
      </p:sp>
      <p:sp>
        <p:nvSpPr>
          <p:cNvPr id="18" name=""/>
          <p:cNvSpPr txBox="1"/>
          <p:nvPr/>
        </p:nvSpPr>
        <p:spPr>
          <a:xfrm>
            <a:off x="540000" y="1440000"/>
            <a:ext cx="9000000" cy="3600000"/>
          </a:xfrm>
          <a:prstGeom prst="rect">
            <a:avLst/>
          </a:prstGeom>
          <a:solidFill>
            <a:schemeClr val="accent1"/>
          </a:solidFill>
          <a:ln w="38160">
            <a:solidFill>
              <a:schemeClr val="accent1">
                <a:lumMod val="75000"/>
                <a:lumOff val="0"/>
              </a:schemeClr>
            </a:solidFill>
            <a:round/>
          </a:ln>
        </p:spPr>
        <p:txBody>
          <a:bodyPr lIns="90000" tIns="45000" rIns="90000" bIns="45000" anchor="t">
            <a:spAutoFit/>
          </a:bodyPr>
          <a:p>
            <a:pPr/>
            <a:r>
              <a:rPr lang="en-US" sz="1800" b="0" u="none" strike="noStrike">
                <a:solidFill>
                  <a:srgbClr val="FFFFFF"/>
                </a:solidFill>
                <a:effectLst/>
                <a:uFillTx/>
                <a:latin typeface="Arial"/>
              </a:rPr>
              <a:t>Pedestrian streets bring life back to downtowns.</a:t>
            </a:r>
            <a:endParaRPr lang="en-US" sz="1800" b="0" u="none" strike="noStrike">
              <a:solidFill>
                <a:srgbClr val="FFFFFF"/>
              </a:solidFill>
              <a:effectLst/>
              <a:uFillTx/>
              <a:latin typeface="Arial"/>
            </a:endParaRPr>
          </a:p>
          <a:p>
            <a:pPr/>
            <a:r>
              <a:rPr lang="en-US" sz="1800" b="0" u="none" strike="noStrike">
                <a:solidFill>
                  <a:srgbClr val="FFFFFF"/>
                </a:solidFill>
                <a:effectLst/>
                <a:uFillTx/>
                <a:latin typeface="Arial"/>
              </a:rPr>
              <a:t>In my hometown, the main street closes to cars every summer weekend for a festival, and it is transformed: families, musicians, and vendors fill the road.</a:t>
            </a:r>
            <a:endParaRPr lang="en-U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 name=""/>
          <p:cNvSpPr txBox="1"/>
          <p:nvPr/>
        </p:nvSpPr>
        <p:spPr>
          <a:xfrm>
            <a:off x="540000" y="360000"/>
            <a:ext cx="9000000" cy="900000"/>
          </a:xfrm>
          <a:prstGeom prst="rect">
            <a:avLst/>
          </a:prstGeom>
          <a:solidFill>
            <a:schemeClr val="accent1"/>
          </a:solidFill>
          <a:ln w="38160">
            <a:solidFill>
              <a:schemeClr val="accent1">
                <a:lumMod val="75000"/>
                <a:lumOff val="0"/>
              </a:schemeClr>
            </a:solidFill>
            <a:round/>
          </a:ln>
        </p:spPr>
        <p:txBody>
          <a:bodyPr lIns="90000" tIns="45000" rIns="90000" bIns="45000" anchor="t">
            <a:spAutoFit/>
          </a:bodyPr>
          <a:p>
            <a:pPr/>
            <a:r>
              <a:rPr lang="en-US" sz="1800" b="0" u="none" strike="noStrike">
                <a:solidFill>
                  <a:srgbClr val="FFFFFF"/>
                </a:solidFill>
                <a:effectLst/>
                <a:uFillTx/>
                <a:latin typeface="Arial"/>
              </a:rPr>
              <a:t>Point 2</a:t>
            </a:r>
            <a:endParaRPr lang="en-US" sz="1800" b="0" u="none" strike="noStrike">
              <a:solidFill>
                <a:srgbClr val="FFFFFF"/>
              </a:solidFill>
              <a:effectLst/>
              <a:uFillTx/>
              <a:latin typeface="Arial"/>
            </a:endParaRPr>
          </a:p>
        </p:txBody>
      </p:sp>
      <p:sp>
        <p:nvSpPr>
          <p:cNvPr id="20" name=""/>
          <p:cNvSpPr txBox="1"/>
          <p:nvPr/>
        </p:nvSpPr>
        <p:spPr>
          <a:xfrm>
            <a:off x="540000" y="1440000"/>
            <a:ext cx="9000000" cy="3600000"/>
          </a:xfrm>
          <a:prstGeom prst="rect">
            <a:avLst/>
          </a:prstGeom>
          <a:solidFill>
            <a:schemeClr val="accent1"/>
          </a:solidFill>
          <a:ln w="38160">
            <a:solidFill>
              <a:schemeClr val="accent1">
                <a:lumMod val="75000"/>
                <a:lumOff val="0"/>
              </a:schemeClr>
            </a:solidFill>
            <a:round/>
          </a:ln>
        </p:spPr>
        <p:txBody>
          <a:bodyPr lIns="90000" tIns="45000" rIns="90000" bIns="45000" anchor="t">
            <a:spAutoFit/>
          </a:bodyPr>
          <a:p>
            <a:pPr/>
            <a:r>
              <a:rPr lang="en-US" sz="1800" b="0" u="none" strike="noStrike">
                <a:solidFill>
                  <a:srgbClr val="FFFFFF"/>
                </a:solidFill>
                <a:effectLst/>
                <a:uFillTx/>
                <a:latin typeface="Arial"/>
              </a:rPr>
              <a:t>A car-free core is also more equal.</a:t>
            </a:r>
            <a:endParaRPr lang="en-US" sz="1800" b="0" u="none" strike="noStrike">
              <a:solidFill>
                <a:srgbClr val="FFFFFF"/>
              </a:solidFill>
              <a:effectLst/>
              <a:uFillTx/>
              <a:latin typeface="Arial"/>
            </a:endParaRPr>
          </a:p>
          <a:p>
            <a:pPr/>
            <a:r>
              <a:rPr lang="en-US" sz="1800" b="0" u="none" strike="noStrike">
                <a:solidFill>
                  <a:srgbClr val="FFFFFF"/>
                </a:solidFill>
                <a:effectLst/>
                <a:uFillTx/>
                <a:latin typeface="Arial"/>
              </a:rPr>
              <a:t>Not everyone can afford a car; the Bureau of Transportation Statistics estimates owning one costs over $12,000 a year.</a:t>
            </a:r>
            <a:endParaRPr lang="en-U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 name=""/>
          <p:cNvSpPr txBox="1"/>
          <p:nvPr/>
        </p:nvSpPr>
        <p:spPr>
          <a:xfrm>
            <a:off x="540000" y="360000"/>
            <a:ext cx="9000000" cy="900000"/>
          </a:xfrm>
          <a:prstGeom prst="rect">
            <a:avLst/>
          </a:prstGeom>
          <a:solidFill>
            <a:schemeClr val="accent1"/>
          </a:solidFill>
          <a:ln w="38160">
            <a:solidFill>
              <a:schemeClr val="accent1">
                <a:lumMod val="75000"/>
                <a:lumOff val="0"/>
              </a:schemeClr>
            </a:solidFill>
            <a:round/>
          </a:ln>
        </p:spPr>
        <p:txBody>
          <a:bodyPr lIns="90000" tIns="45000" rIns="90000" bIns="45000" anchor="t">
            <a:spAutoFit/>
          </a:bodyPr>
          <a:p>
            <a:pPr/>
            <a:r>
              <a:rPr lang="en-US" sz="1800" b="0" u="none" strike="noStrike">
                <a:solidFill>
                  <a:srgbClr val="FFFFFF"/>
                </a:solidFill>
                <a:effectLst/>
                <a:uFillTx/>
                <a:latin typeface="Arial"/>
              </a:rPr>
              <a:t>Point 3</a:t>
            </a:r>
            <a:endParaRPr lang="en-US" sz="1800" b="0" u="none" strike="noStrike">
              <a:solidFill>
                <a:srgbClr val="FFFFFF"/>
              </a:solidFill>
              <a:effectLst/>
              <a:uFillTx/>
              <a:latin typeface="Arial"/>
            </a:endParaRPr>
          </a:p>
        </p:txBody>
      </p:sp>
      <p:sp>
        <p:nvSpPr>
          <p:cNvPr id="22" name=""/>
          <p:cNvSpPr txBox="1"/>
          <p:nvPr/>
        </p:nvSpPr>
        <p:spPr>
          <a:xfrm>
            <a:off x="540000" y="1440000"/>
            <a:ext cx="9000000" cy="3600000"/>
          </a:xfrm>
          <a:prstGeom prst="rect">
            <a:avLst/>
          </a:prstGeom>
          <a:solidFill>
            <a:schemeClr val="accent1"/>
          </a:solidFill>
          <a:ln w="38160">
            <a:solidFill>
              <a:schemeClr val="accent1">
                <a:lumMod val="75000"/>
                <a:lumOff val="0"/>
              </a:schemeClr>
            </a:solidFill>
            <a:round/>
          </a:ln>
        </p:spPr>
        <p:txBody>
          <a:bodyPr lIns="90000" tIns="45000" rIns="90000" bIns="45000" anchor="t">
            <a:spAutoFit/>
          </a:bodyPr>
          <a:p>
            <a:pPr/>
            <a:r>
              <a:rPr lang="en-US" sz="1800" b="0" u="none" strike="noStrike">
                <a:solidFill>
                  <a:srgbClr val="FFFFFF"/>
                </a:solidFill>
                <a:effectLst/>
                <a:uFillTx/>
                <a:latin typeface="Arial"/>
              </a:rPr>
              <a:t>Finally, transportation is the largest source of greenhouse gas emissions in the United States, according to the EPA.</a:t>
            </a:r>
            <a:endParaRPr lang="en-US" sz="1800" b="0" u="none" strike="noStrike">
              <a:solidFill>
                <a:srgbClr val="FFFFFF"/>
              </a:solidFill>
              <a:effectLst/>
              <a:uFillTx/>
              <a:latin typeface="Arial"/>
            </a:endParaRPr>
          </a:p>
          <a:p>
            <a:pPr/>
            <a:r>
              <a:rPr lang="en-US" sz="1800" b="0" u="none" strike="noStrike">
                <a:solidFill>
                  <a:srgbClr val="FFFFFF"/>
                </a:solidFill>
                <a:effectLst/>
                <a:uFillTx/>
                <a:latin typeface="Arial"/>
              </a:rPr>
              <a:t>Cities cannot meet climate goals while continuing to prioritize private cars in their densest areas.</a:t>
            </a:r>
            <a:endParaRPr lang="en-U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 name=""/>
          <p:cNvSpPr txBox="1"/>
          <p:nvPr/>
        </p:nvSpPr>
        <p:spPr>
          <a:xfrm>
            <a:off x="540000" y="360000"/>
            <a:ext cx="9000000" cy="900000"/>
          </a:xfrm>
          <a:prstGeom prst="rect">
            <a:avLst/>
          </a:prstGeom>
          <a:solidFill>
            <a:schemeClr val="accent1"/>
          </a:solidFill>
          <a:ln w="38160">
            <a:solidFill>
              <a:schemeClr val="accent1">
                <a:lumMod val="75000"/>
                <a:lumOff val="0"/>
              </a:schemeClr>
            </a:solidFill>
            <a:round/>
          </a:ln>
        </p:spPr>
        <p:txBody>
          <a:bodyPr lIns="90000" tIns="45000" rIns="90000" bIns="45000" anchor="t">
            <a:spAutoFit/>
          </a:bodyPr>
          <a:p>
            <a:pPr/>
            <a:r>
              <a:rPr lang="en-US" sz="1800" b="0" u="none" strike="noStrike">
                <a:solidFill>
                  <a:srgbClr val="FFFFFF"/>
                </a:solidFill>
                <a:effectLst/>
                <a:uFillTx/>
                <a:latin typeface="Arial"/>
              </a:rPr>
              <a:t>Point 4</a:t>
            </a:r>
            <a:endParaRPr lang="en-US" sz="1800" b="0" u="none" strike="noStrike">
              <a:solidFill>
                <a:srgbClr val="FFFFFF"/>
              </a:solidFill>
              <a:effectLst/>
              <a:uFillTx/>
              <a:latin typeface="Arial"/>
            </a:endParaRPr>
          </a:p>
        </p:txBody>
      </p:sp>
      <p:sp>
        <p:nvSpPr>
          <p:cNvPr id="24" name=""/>
          <p:cNvSpPr txBox="1"/>
          <p:nvPr/>
        </p:nvSpPr>
        <p:spPr>
          <a:xfrm>
            <a:off x="540000" y="1440000"/>
            <a:ext cx="9000000" cy="3600000"/>
          </a:xfrm>
          <a:prstGeom prst="rect">
            <a:avLst/>
          </a:prstGeom>
          <a:solidFill>
            <a:schemeClr val="accent1"/>
          </a:solidFill>
          <a:ln w="38160">
            <a:solidFill>
              <a:schemeClr val="accent1">
                <a:lumMod val="75000"/>
                <a:lumOff val="0"/>
              </a:schemeClr>
            </a:solidFill>
            <a:round/>
          </a:ln>
        </p:spPr>
        <p:txBody>
          <a:bodyPr lIns="90000" tIns="45000" rIns="90000" bIns="45000" anchor="t">
            <a:spAutoFit/>
          </a:bodyPr>
          <a:p>
            <a:pPr/>
            <a:r>
              <a:rPr lang="en-US" sz="1800" b="0" u="none" strike="noStrike">
                <a:solidFill>
                  <a:srgbClr val="FFFFFF"/>
                </a:solidFill>
                <a:effectLst/>
                <a:uFillTx/>
                <a:latin typeface="Arial"/>
              </a:rPr>
              <a:t>Some residents worry about losing convenient parking.</a:t>
            </a:r>
            <a:endParaRPr lang="en-US" sz="1800" b="0" u="none" strike="noStrike">
              <a:solidFill>
                <a:srgbClr val="FFFFFF"/>
              </a:solidFill>
              <a:effectLst/>
              <a:uFillTx/>
              <a:latin typeface="Arial"/>
            </a:endParaRPr>
          </a:p>
          <a:p>
            <a:pPr/>
            <a:r>
              <a:rPr lang="en-US" sz="1800" b="0" u="none" strike="noStrike">
                <a:solidFill>
                  <a:srgbClr val="FFFFFF"/>
                </a:solidFill>
                <a:effectLst/>
                <a:uFillTx/>
                <a:latin typeface="Arial"/>
              </a:rPr>
              <a:t>My classmate Jordan Alvarez pointed out in our peer review that people from rural areas depend on driving.</a:t>
            </a:r>
            <a:endParaRPr lang="en-U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 name=""/>
          <p:cNvSpPr txBox="1"/>
          <p:nvPr/>
        </p:nvSpPr>
        <p:spPr>
          <a:xfrm>
            <a:off x="540000" y="360000"/>
            <a:ext cx="9000000" cy="900000"/>
          </a:xfrm>
          <a:prstGeom prst="rect">
            <a:avLst/>
          </a:prstGeom>
          <a:solidFill>
            <a:schemeClr val="accent1"/>
          </a:solidFill>
          <a:ln w="38160">
            <a:solidFill>
              <a:schemeClr val="accent1">
                <a:lumMod val="75000"/>
                <a:lumOff val="0"/>
              </a:schemeClr>
            </a:solidFill>
            <a:round/>
          </a:ln>
        </p:spPr>
        <p:txBody>
          <a:bodyPr lIns="90000" tIns="45000" rIns="90000" bIns="45000" anchor="t">
            <a:spAutoFit/>
          </a:bodyPr>
          <a:p>
            <a:pPr/>
            <a:r>
              <a:rPr lang="en-US" sz="1800" b="0" u="none" strike="noStrike">
                <a:solidFill>
                  <a:srgbClr val="FFFFFF"/>
                </a:solidFill>
                <a:effectLst/>
                <a:uFillTx/>
                <a:latin typeface="Arial"/>
              </a:rPr>
              <a:t>Point 5</a:t>
            </a:r>
            <a:endParaRPr lang="en-US" sz="1800" b="0" u="none" strike="noStrike">
              <a:solidFill>
                <a:srgbClr val="FFFFFF"/>
              </a:solidFill>
              <a:effectLst/>
              <a:uFillTx/>
              <a:latin typeface="Arial"/>
            </a:endParaRPr>
          </a:p>
        </p:txBody>
      </p:sp>
      <p:sp>
        <p:nvSpPr>
          <p:cNvPr id="26" name=""/>
          <p:cNvSpPr txBox="1"/>
          <p:nvPr/>
        </p:nvSpPr>
        <p:spPr>
          <a:xfrm>
            <a:off x="540000" y="1440000"/>
            <a:ext cx="9000000" cy="3600000"/>
          </a:xfrm>
          <a:prstGeom prst="rect">
            <a:avLst/>
          </a:prstGeom>
          <a:solidFill>
            <a:schemeClr val="accent1"/>
          </a:solidFill>
          <a:ln w="38160">
            <a:solidFill>
              <a:schemeClr val="accent1">
                <a:lumMod val="75000"/>
                <a:lumOff val="0"/>
              </a:schemeClr>
            </a:solidFill>
            <a:round/>
          </a:ln>
        </p:spPr>
        <p:txBody>
          <a:bodyPr lIns="90000" tIns="45000" rIns="90000" bIns="45000" anchor="t">
            <a:spAutoFit/>
          </a:bodyPr>
          <a:p>
            <a:pPr/>
            <a:r>
              <a:rPr lang="en-US" sz="1800" b="0" u="none" strike="noStrike">
                <a:solidFill>
                  <a:srgbClr val="FFFFFF"/>
                </a:solidFill>
                <a:effectLst/>
                <a:uFillTx/>
                <a:latin typeface="Arial"/>
              </a:rPr>
              <a:t>Cities that put people first will have downtowns people want to visit.</a:t>
            </a:r>
            <a:endParaRPr lang="en-US" sz="1800" b="0" u="none" strike="noStrike">
              <a:solidFill>
                <a:srgbClr val="FFFFFF"/>
              </a:solidFill>
              <a:effectLst/>
              <a:uFillTx/>
              <a:latin typeface="Arial"/>
            </a:endParaRPr>
          </a:p>
          <a:p>
            <a:pPr/>
            <a:r>
              <a:rPr lang="en-US" sz="1800" b="0" u="none" strike="noStrike">
                <a:solidFill>
                  <a:srgbClr val="FFFFFF"/>
                </a:solidFill>
                <a:effectLst/>
                <a:uFillTx/>
                <a:latin typeface="Arial"/>
              </a:rPr>
              <a:t>It is time to give the streets back.</a:t>
            </a:r>
            <a:endParaRPr lang="en-U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LibreOffice/26.8.0.3$MacOSX_AARCH64 LibreOffice_project/bce0998afefdbc355585ca324285661a2170ba77</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cp:revision>0</cp:revision>
  <dc:subject/>
  <dc:title/>
</cp:coreProperties>
</file>